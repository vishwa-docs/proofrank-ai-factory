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c3f17f82ac344a8" /><Relationship Type="http://schemas.openxmlformats.org/officeDocument/2006/relationships/extended-properties" Target="/docProps/app.xml" Id="Rbb2174f42534483a" /><Relationship Type="http://schemas.openxmlformats.org/officeDocument/2006/relationships/officeDocument" Target="/ppt/presentation.xml" Id="R7f6fb74ea0fa488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04c42f935134933"/>
  </p:sldMasterIdLst>
  <p:notesMasterIdLst>
    <p:notesMasterId xmlns:r="http://schemas.openxmlformats.org/officeDocument/2006/relationships" r:id="Rf7f8862ffd234610"/>
  </p:notesMasterIdLst>
  <p:sldIdLst>
    <p:sldId xmlns:r="http://schemas.openxmlformats.org/officeDocument/2006/relationships" id="256" r:id="R47b0c4aff5c14ca7"/>
    <p:sldId xmlns:r="http://schemas.openxmlformats.org/officeDocument/2006/relationships" id="257" r:id="R4268b1157e704bb7"/>
    <p:sldId xmlns:r="http://schemas.openxmlformats.org/officeDocument/2006/relationships" id="258" r:id="R64c87afd8eca46e2"/>
    <p:sldId xmlns:r="http://schemas.openxmlformats.org/officeDocument/2006/relationships" id="259" r:id="Rac45052b2f2c4b49"/>
    <p:sldId xmlns:r="http://schemas.openxmlformats.org/officeDocument/2006/relationships" id="260" r:id="Rcaeb51437b434b41"/>
    <p:sldId xmlns:r="http://schemas.openxmlformats.org/officeDocument/2006/relationships" id="261" r:id="Rcc93fe2a1d4e4582"/>
    <p:sldId xmlns:r="http://schemas.openxmlformats.org/officeDocument/2006/relationships" id="262" r:id="Rd265a1c0bd2a448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cd82b8e0a254780" /><Relationship Type="http://schemas.openxmlformats.org/officeDocument/2006/relationships/slideMaster" Target="/ppt/slideMasters/slideMaster1.xml" Id="Re04c42f935134933" /><Relationship Type="http://schemas.openxmlformats.org/officeDocument/2006/relationships/notesMaster" Target="/ppt/notesMasters/notesMaster1.xml" Id="Rf7f8862ffd234610" /><Relationship Type="http://schemas.openxmlformats.org/officeDocument/2006/relationships/presProps" Target="/ppt/presProps.xml" Id="Rb0d1ec06ae0a4aa5" /><Relationship Type="http://schemas.openxmlformats.org/officeDocument/2006/relationships/tableStyles" Target="/ppt/tableStyles.xml" Id="R67f1229994ee4aef" /><Relationship Type="http://schemas.openxmlformats.org/officeDocument/2006/relationships/slide" Target="/ppt/slides/slide1.xml" Id="R47b0c4aff5c14ca7" /><Relationship Type="http://schemas.openxmlformats.org/officeDocument/2006/relationships/slide" Target="/ppt/slides/slide2.xml" Id="R4268b1157e704bb7" /><Relationship Type="http://schemas.openxmlformats.org/officeDocument/2006/relationships/slide" Target="/ppt/slides/slide3.xml" Id="R64c87afd8eca46e2" /><Relationship Type="http://schemas.openxmlformats.org/officeDocument/2006/relationships/slide" Target="/ppt/slides/slide4.xml" Id="Rac45052b2f2c4b49" /><Relationship Type="http://schemas.openxmlformats.org/officeDocument/2006/relationships/slide" Target="/ppt/slides/slide5.xml" Id="Rcaeb51437b434b41" /><Relationship Type="http://schemas.openxmlformats.org/officeDocument/2006/relationships/slide" Target="/ppt/slides/slide6.xml" Id="Rcc93fe2a1d4e4582" /><Relationship Type="http://schemas.openxmlformats.org/officeDocument/2006/relationships/slide" Target="/ppt/slides/slide7.xml" Id="Rd265a1c0bd2a44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c0737a80a5b404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7104341ba4648fd" /><Relationship Type="http://schemas.openxmlformats.org/officeDocument/2006/relationships/notesMaster" Target="/ppt/notesMasters/notesMaster1.xml" Id="R226c32679589462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61028e68a0d4d56" /><Relationship Type="http://schemas.openxmlformats.org/officeDocument/2006/relationships/notesMaster" Target="/ppt/notesMasters/notesMaster1.xml" Id="R9803f1a20a18450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153f1647912444a" /><Relationship Type="http://schemas.openxmlformats.org/officeDocument/2006/relationships/notesMaster" Target="/ppt/notesMasters/notesMaster1.xml" Id="R3e9a9b61fa094f5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10901de086343d2" /><Relationship Type="http://schemas.openxmlformats.org/officeDocument/2006/relationships/notesMaster" Target="/ppt/notesMasters/notesMaster1.xml" Id="R5704b2fd692346d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27875fe8c284f94" /><Relationship Type="http://schemas.openxmlformats.org/officeDocument/2006/relationships/notesMaster" Target="/ppt/notesMasters/notesMaster1.xml" Id="R44e83eabb9a946f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21f5f9251fd4ad3" /><Relationship Type="http://schemas.openxmlformats.org/officeDocument/2006/relationships/notesMaster" Target="/ppt/notesMasters/notesMaster1.xml" Id="R05c85b7d6265494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af5752751ad41c0" /><Relationship Type="http://schemas.openxmlformats.org/officeDocument/2006/relationships/notesMaster" Target="/ppt/notesMasters/notesMaster1.xml" Id="Re0191468debc42d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submission/project-description.md</a:t>
            </a:r>
          </a:p>
          <a:p xmlns:a="http://schemas.openxmlformats.org/drawingml/2006/main">
            <a:r>
              <a:t>- submission/demo-assets/01-overview.png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research/bright-data-readiness.md</a:t>
            </a:r>
          </a:p>
          <a:p xmlns:a="http://schemas.openxmlformats.org/drawingml/2006/main">
            <a:r>
              <a:t>- submission/project-description.md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app/src/liveReviewer.js</a:t>
            </a:r>
          </a:p>
          <a:p xmlns:a="http://schemas.openxmlformats.org/drawingml/2006/main">
            <a:r>
              <a:t>- app/src/liveEventReviewer.js</a:t>
            </a:r>
          </a:p>
          <a:p xmlns:a="http://schemas.openxmlformats.org/drawingml/2006/main">
            <a:r>
              <a:t>- app/src/exporters.js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app/src/scoring.js</a:t>
            </a:r>
          </a:p>
          <a:p xmlns:a="http://schemas.openxmlformats.org/drawingml/2006/main">
            <a:r>
              <a:t>- app/src/liveReviewApi.js</a:t>
            </a:r>
          </a:p>
          <a:p xmlns:a="http://schemas.openxmlformats.org/drawingml/2006/main">
            <a:r>
              <a:t>- submission/bright-data-setup.md</a:t>
            </a:r>
          </a:p>
          <a:p xmlns:a="http://schemas.openxmlformats.org/drawingml/2006/main">
            <a:r>
              <a:t>- submission/demo-assets/03-proof-receipt.png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app/src/tribunal.js</a:t>
            </a:r>
          </a:p>
          <a:p xmlns:a="http://schemas.openxmlformats.org/drawingml/2006/main">
            <a:r>
              <a:t>- app/src/originality.js</a:t>
            </a:r>
          </a:p>
          <a:p xmlns:a="http://schemas.openxmlformats.org/drawingml/2006/main">
            <a:r>
              <a:t>- submission/demo-assets/02-claim-ledger.png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submission/operator-handoff.md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scripts/verify.sh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research/bright-data-readiness.md</a:t>
            </a:r>
          </a:p>
          <a:p xmlns:a="http://schemas.openxmlformats.org/drawingml/2006/main">
            <a:r>
              <a:t>- submission/operator-handoff.md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29d64c347a426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1ba04c7bab14685" /><Relationship Type="http://schemas.openxmlformats.org/officeDocument/2006/relationships/slideLayout" Target="/ppt/slideLayouts/slideLayout1.xml" Id="R0e4302f8508545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4302f8508545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cab1f823ff4965" /><Relationship Type="http://schemas.openxmlformats.org/officeDocument/2006/relationships/image" Target="/ppt/media/image.png" Id="Rfea927b3be9f4afe" /><Relationship Type="http://schemas.openxmlformats.org/officeDocument/2006/relationships/notesSlide" Target="/ppt/notesSlides/notesSlide1.xml" Id="R233f7cc286cd439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c87bfe4d8c4df8" /><Relationship Type="http://schemas.openxmlformats.org/officeDocument/2006/relationships/notesSlide" Target="/ppt/notesSlides/notesSlide2.xml" Id="R91a523bc43cb4ee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98bad48a6b453f" /><Relationship Type="http://schemas.openxmlformats.org/officeDocument/2006/relationships/notesSlide" Target="/ppt/notesSlides/notesSlide3.xml" Id="R863437a9ffc14d3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330b118006455d" /><Relationship Type="http://schemas.openxmlformats.org/officeDocument/2006/relationships/image" Target="/ppt/media/image2.png" Id="R42c9c4cb16bf4d97" /><Relationship Type="http://schemas.openxmlformats.org/officeDocument/2006/relationships/notesSlide" Target="/ppt/notesSlides/notesSlide4.xml" Id="Rc903f7312b194e0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ed051977cf4ce1" /><Relationship Type="http://schemas.openxmlformats.org/officeDocument/2006/relationships/image" Target="/ppt/media/image3.png" Id="R18d119dc4bab4446" /><Relationship Type="http://schemas.openxmlformats.org/officeDocument/2006/relationships/notesSlide" Target="/ppt/notesSlides/notesSlide5.xml" Id="Rfb9ff8b3bca046e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f3a80e7ac945f4" /><Relationship Type="http://schemas.openxmlformats.org/officeDocument/2006/relationships/notesSlide" Target="/ppt/notesSlides/notesSlide6.xml" Id="R0f22c556fbdd44b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3af9676c824a9e" /><Relationship Type="http://schemas.openxmlformats.org/officeDocument/2006/relationships/notesSlide" Target="/ppt/notesSlides/notesSlide7.xml" Id="R0557f4cab0a843a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A74555-D559-4DA1-AC48-DAA08FA52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8B8D"/>
                </a:solidFill>
              </a:defRPr>
            </a:pPr>
            <a:r>
              <a:rPr sz="900" b="1">
                <a:solidFill>
                  <a:srgbClr val="0F8B8D"/>
                </a:solidFill>
              </a:rPr>
              <a:t>BRIGHT DATA SPONSOR SUBMISSION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37DEBB-51BF-4A15-B24D-09838C901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495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F1720"/>
                </a:solidFill>
              </a:defRPr>
            </a:pPr>
            <a:r>
              <a:rPr sz="4350" b="1">
                <a:solidFill>
                  <a:srgbClr val="0F1720"/>
                </a:solidFill>
              </a:rPr>
              <a:t>ProofRank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D46E60-1A33-4388-9793-58B7AA636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24100"/>
            <a:ext cx="4667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A6673"/>
                </a:solidFill>
              </a:defRPr>
            </a:pPr>
            <a:r>
              <a:rPr sz="1725">
                <a:solidFill>
                  <a:srgbClr val="5A6673"/>
                </a:solidFill>
              </a:rPr>
              <a:t>Public AI product diligence for hackathon judges, sponsors, accelerators, and grant reviewers.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59005C-7761-4651-9CE0-6F0CF8BF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14800"/>
            <a:ext cx="50958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8B8D"/>
                </a:solidFill>
              </a:defRPr>
            </a:pPr>
            <a:r>
              <a:rPr sz="1650" b="1">
                <a:solidFill>
                  <a:srgbClr val="0F8B8D"/>
                </a:solidFill>
              </a:rPr>
              <a:t>The product is not another submitted app. It is the evidence workbench a sponsor would use to decide which submitted apps are real.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a927b3be9f4afe"/>
          <a:srcRect xmlns:a="http://schemas.openxmlformats.org/drawingml/2006/main" l="12945" t="0" r="1294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914400"/>
            <a:ext cx="4857750" cy="4324350"/>
          </a:xfrm>
          <a:prstGeom xmlns:a="http://schemas.openxmlformats.org/drawingml/2006/main" prst="roundRect">
            <a:avLst>
              <a:gd name="adj" fmla="val 1762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8D30EA-51A1-4ABC-BE43-305813CD1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8B8D"/>
                </a:solidFill>
              </a:defRPr>
            </a:pPr>
            <a:r>
              <a:rPr sz="975" b="1">
                <a:solidFill>
                  <a:srgbClr val="0F8B8D"/>
                </a:solidFill>
              </a:rPr>
              <a:t>ProofRank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766B37-30E3-4ED3-BCAC-D250DA7FF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A6673"/>
                </a:solidFill>
              </a:defRPr>
            </a:pPr>
            <a:r>
              <a:rPr sz="975">
                <a:solidFill>
                  <a:srgbClr val="5A6673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959631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C2E79C-D980-4103-AA61-1A85D6803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8B8D"/>
                </a:solidFill>
              </a:defRPr>
            </a:pPr>
            <a:r>
              <a:rPr sz="900" b="1">
                <a:solidFill>
                  <a:srgbClr val="0F8B8D"/>
                </a:solidFill>
              </a:rPr>
              <a:t>THE REVIEW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E14694-C1CD-4C5D-BF12-8DAE9B5D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57250"/>
            <a:ext cx="7048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F1720"/>
                </a:solidFill>
              </a:defRPr>
            </a:pPr>
            <a:r>
              <a:rPr sz="3300" b="1">
                <a:solidFill>
                  <a:srgbClr val="0F1720"/>
                </a:solidFill>
              </a:rPr>
              <a:t>Polished pitches hide weak evidence.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A22340-6F3E-4075-A5B2-B6E22DADC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28800"/>
            <a:ext cx="619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A6673"/>
                </a:solidFill>
              </a:defRPr>
            </a:pPr>
            <a:r>
              <a:rPr sz="1500">
                <a:solidFill>
                  <a:srgbClr val="5A6673"/>
                </a:solidFill>
              </a:rPr>
              <a:t>Judges need a fast way to separate working products from unsupported claims.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3419F8-9804-4D3B-A592-41CDAEDE0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110109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0DA"/>
          </a:solidFill>
          <a:ln xmlns:a="http://schemas.openxmlformats.org/drawingml/2006/main" w="0">
            <a:solidFill>
              <a:srgbClr val="C6D0D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84B678-5AE7-4D5C-BBED-BFC354A0B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362F"/>
          </a:solidFill>
          <a:ln xmlns:a="http://schemas.openxmlformats.org/drawingml/2006/main" w="0">
            <a:solidFill>
              <a:srgbClr val="C7362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F0290C-24F7-413F-8BCB-AA7B2A2B5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28900"/>
            <a:ext cx="481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1720"/>
                </a:solidFill>
              </a:defRPr>
            </a:pPr>
            <a:r>
              <a:rPr sz="1650" b="1">
                <a:solidFill>
                  <a:srgbClr val="0F1720"/>
                </a:solidFill>
              </a:rPr>
              <a:t>Broken or thin demos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ABC1C5-30B5-492D-8330-7990798DB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24175"/>
            <a:ext cx="4810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A6673"/>
                </a:solidFill>
              </a:defRPr>
            </a:pPr>
            <a:r>
              <a:rPr sz="1200">
                <a:solidFill>
                  <a:srgbClr val="5A6673"/>
                </a:solidFill>
              </a:rPr>
              <a:t>A good-looking page may not prove a working end-to-end workflow.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C16208-2B12-4F24-847A-6C7E9819C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7909"/>
          </a:solidFill>
          <a:ln xmlns:a="http://schemas.openxmlformats.org/drawingml/2006/main" w="0">
            <a:solidFill>
              <a:srgbClr val="B8790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9829BC-4E3E-4D50-927E-3C1327772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90900"/>
            <a:ext cx="481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1720"/>
                </a:solidFill>
              </a:defRPr>
            </a:pPr>
            <a:r>
              <a:rPr sz="1650" b="1">
                <a:solidFill>
                  <a:srgbClr val="0F1720"/>
                </a:solidFill>
              </a:rPr>
              <a:t>Sponsor logos without dependency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734AAB-37A6-47A0-9F91-086B8A188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86175"/>
            <a:ext cx="4810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A6673"/>
                </a:solidFill>
              </a:defRPr>
            </a:pPr>
            <a:r>
              <a:rPr sz="1200">
                <a:solidFill>
                  <a:srgbClr val="5A6673"/>
                </a:solidFill>
              </a:rPr>
              <a:t>Mentioning Bright Data is not the same as making live web evidence load-bearing.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200CEF-3A32-44CD-A530-BC9D3CCE5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0">
            <a:solidFill>
              <a:srgbClr val="2364A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D09961-8595-4174-832C-2A564CB5B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52900"/>
            <a:ext cx="481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1720"/>
                </a:solidFill>
              </a:defRPr>
            </a:pPr>
            <a:r>
              <a:rPr sz="1650" b="1">
                <a:solidFill>
                  <a:srgbClr val="0F1720"/>
                </a:solidFill>
              </a:rPr>
              <a:t>Originality is hard to check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97D78D-A9B0-4C17-A106-C62D5A46B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48175"/>
            <a:ext cx="4810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A6673"/>
                </a:solidFill>
              </a:defRPr>
            </a:pPr>
            <a:r>
              <a:rPr sz="1200">
                <a:solidFill>
                  <a:srgbClr val="5A6673"/>
                </a:solidFill>
              </a:rPr>
              <a:t>The field already includes strong proof, video, compliance, and agentic web entries.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0C8A78-94C2-4218-B2DF-668FAF0E4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solidFill>
              <a:srgbClr val="0F8B8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5066D2-40BF-4E94-BDB5-92E29F80D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14900"/>
            <a:ext cx="481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1720"/>
                </a:solidFill>
              </a:defRPr>
            </a:pPr>
            <a:r>
              <a:rPr sz="1650" b="1">
                <a:solidFill>
                  <a:srgbClr val="0F1720"/>
                </a:solidFill>
              </a:rPr>
              <a:t>Review output needs receipts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41E3FB-4554-4CCE-95B9-D950C31D2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0175"/>
            <a:ext cx="4810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A6673"/>
                </a:solidFill>
              </a:defRPr>
            </a:pPr>
            <a:r>
              <a:rPr sz="1200">
                <a:solidFill>
                  <a:srgbClr val="5A6673"/>
                </a:solidFill>
              </a:rPr>
              <a:t>Sponsors need cited evidence, uncertainty, trace state, and recommended action.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C04882-9C03-40DB-81D7-6D59C567C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628900"/>
            <a:ext cx="36004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C6D0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AACF5A-02ED-4645-9041-D3847822F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0670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1720"/>
                </a:solidFill>
              </a:defRPr>
            </a:pPr>
            <a:r>
              <a:rPr sz="1875" b="1">
                <a:solidFill>
                  <a:srgbClr val="0F1720"/>
                </a:solidFill>
              </a:rPr>
              <a:t>Decision output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CCE530-2D8A-4C0E-9817-EAE5099BC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524250"/>
            <a:ext cx="276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8B8D"/>
                </a:solidFill>
              </a:defRPr>
            </a:pPr>
            <a:r>
              <a:rPr sz="1800" b="1">
                <a:solidFill>
                  <a:srgbClr val="0F8B8D"/>
                </a:solidFill>
              </a:rPr>
              <a:t>Shortlist, verify live, request proof, or hold.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A85878-B9E7-4942-8832-1E00229B8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8B8D"/>
                </a:solidFill>
              </a:defRPr>
            </a:pPr>
            <a:r>
              <a:rPr sz="975" b="1">
                <a:solidFill>
                  <a:srgbClr val="0F8B8D"/>
                </a:solidFill>
              </a:rPr>
              <a:t>ProofRank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C4549C-2936-4812-9D83-D16282D2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A6673"/>
                </a:solidFill>
              </a:defRPr>
            </a:pPr>
            <a:r>
              <a:rPr sz="975">
                <a:solidFill>
                  <a:srgbClr val="5A6673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138426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9E073F-1915-4DA9-BBB5-83862E87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8B8D"/>
                </a:solidFill>
              </a:defRPr>
            </a:pPr>
            <a:r>
              <a:rPr sz="900" b="1">
                <a:solidFill>
                  <a:srgbClr val="0F8B8D"/>
                </a:solidFill>
              </a:rPr>
              <a:t>HOW PROOFRANK 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43CA49-63B4-4F22-AD3E-E3809B4F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57250"/>
            <a:ext cx="7048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F1720"/>
                </a:solidFill>
              </a:defRPr>
            </a:pPr>
            <a:r>
              <a:rPr sz="3300" b="1">
                <a:solidFill>
                  <a:srgbClr val="0F1720"/>
                </a:solidFill>
              </a:rPr>
              <a:t>Every score opens into evidence.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81A743-28FA-4690-84BE-0CFF12C35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28800"/>
            <a:ext cx="619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A6673"/>
                </a:solidFill>
              </a:defRPr>
            </a:pPr>
            <a:r>
              <a:rPr sz="1500">
                <a:solidFill>
                  <a:srgbClr val="5A6673"/>
                </a:solidFill>
              </a:rPr>
              <a:t>The app makes the review chain visible instead of hiding it behind a single AI verdict.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3DD78B-7877-4185-A216-D08C074F7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19400"/>
            <a:ext cx="230505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0D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7C9EE6-04A5-41F5-8705-61D568AA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0"/>
                </a:solidFill>
              </a:defRPr>
            </a:pPr>
            <a:r>
              <a:rPr sz="1950" b="1">
                <a:solidFill>
                  <a:srgbClr val="0F1720"/>
                </a:solidFill>
              </a:rPr>
              <a:t>Collect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6AB847-A528-4FF3-8315-CE6038245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00450"/>
            <a:ext cx="1790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A6673"/>
                </a:solidFill>
              </a:defRPr>
            </a:pPr>
            <a:r>
              <a:rPr sz="1200">
                <a:solidFill>
                  <a:srgbClr val="5A6673"/>
                </a:solidFill>
              </a:rPr>
              <a:t>Event pages, demos, repos, package files, commits, and public prior-art signals.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79D92A-0A73-4002-99A5-46D58C1E8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6195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8B8D"/>
                </a:solidFill>
              </a:defRPr>
            </a:pPr>
            <a:r>
              <a:rPr sz="1350" b="1">
                <a:solidFill>
                  <a:srgbClr val="0F8B8D"/>
                </a:solidFill>
              </a:rPr>
              <a:t>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AF4C5C-0287-4D46-AD78-86BF8A6E6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819400"/>
            <a:ext cx="230505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0D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96EE7C-4636-41BC-9B1C-77EA3856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105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0"/>
                </a:solidFill>
              </a:defRPr>
            </a:pPr>
            <a:r>
              <a:rPr sz="1950" b="1">
                <a:solidFill>
                  <a:srgbClr val="0F1720"/>
                </a:solidFill>
              </a:rPr>
              <a:t>Normalize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CBFA90-7DE3-4A72-88C0-9F39261CB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600450"/>
            <a:ext cx="1790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A6673"/>
                </a:solidFill>
              </a:defRPr>
            </a:pPr>
            <a:r>
              <a:rPr sz="1200">
                <a:solidFill>
                  <a:srgbClr val="5A6673"/>
                </a:solidFill>
              </a:rPr>
              <a:t>Claims become receipt items with confidence, limitations, provenance, and hash.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CD2A10-D98A-42FF-897B-3B7C9BD1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6195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8B8D"/>
                </a:solidFill>
              </a:defRPr>
            </a:pPr>
            <a:r>
              <a:rPr sz="1350" b="1">
                <a:solidFill>
                  <a:srgbClr val="0F8B8D"/>
                </a:solidFill>
              </a:rPr>
              <a:t>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3DE5D0-BFA7-48E7-927C-CE6C90063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819400"/>
            <a:ext cx="230505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0D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243060-02FE-4A76-A066-184CDEA1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05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364AA"/>
                </a:solidFill>
              </a:defRPr>
            </a:pPr>
            <a:r>
              <a:rPr sz="1950" b="1">
                <a:solidFill>
                  <a:srgbClr val="2364AA"/>
                </a:solidFill>
              </a:rPr>
              <a:t>Challenge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2065E4-B08D-417C-A7E6-50B336151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00450"/>
            <a:ext cx="1790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A6673"/>
                </a:solidFill>
              </a:defRPr>
            </a:pPr>
            <a:r>
              <a:rPr sz="1200">
                <a:solidFill>
                  <a:srgbClr val="5A6673"/>
                </a:solidFill>
              </a:rPr>
              <a:t>Sponsor judge, skeptical judge, business buyer, and Originality Radar dispute the result.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8F0FFA-9D6F-4D5E-A105-25AD9A816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195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8B8D"/>
                </a:solidFill>
              </a:defRPr>
            </a:pPr>
            <a:r>
              <a:rPr sz="1350" b="1">
                <a:solidFill>
                  <a:srgbClr val="0F8B8D"/>
                </a:solidFill>
              </a:rPr>
              <a:t>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EAC5D5-85F2-4D27-B434-03941B282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819400"/>
            <a:ext cx="230505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0D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676B1A-9B68-489E-B702-BBB1572C5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105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0"/>
                </a:solidFill>
              </a:defRPr>
            </a:pPr>
            <a:r>
              <a:rPr sz="1950" b="1">
                <a:solidFill>
                  <a:srgbClr val="0F1720"/>
                </a:solidFill>
              </a:rPr>
              <a:t>Export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718A67-9346-4A88-913C-1D63EBCC6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600450"/>
            <a:ext cx="1790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A6673"/>
                </a:solidFill>
              </a:defRPr>
            </a:pPr>
            <a:r>
              <a:rPr sz="1200">
                <a:solidFill>
                  <a:srgbClr val="5A6673"/>
                </a:solidFill>
              </a:rPr>
              <a:t>CSV queue, selected JSON receipt, all receipts JSON, and Markdown submission packet.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6AB998-C8E2-4604-AF37-1B1EA0F19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8B8D"/>
                </a:solidFill>
              </a:defRPr>
            </a:pPr>
            <a:r>
              <a:rPr sz="975" b="1">
                <a:solidFill>
                  <a:srgbClr val="0F8B8D"/>
                </a:solidFill>
              </a:rPr>
              <a:t>ProofRank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60AF7F-0609-4895-9109-11B708494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A6673"/>
                </a:solidFill>
              </a:defRPr>
            </a:pPr>
            <a:r>
              <a:rPr sz="975">
                <a:solidFill>
                  <a:srgbClr val="5A6673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0110868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613AD1-9D5D-4601-9F41-3653DD456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8B8D"/>
                </a:solidFill>
              </a:defRPr>
            </a:pPr>
            <a:r>
              <a:rPr sz="900" b="1">
                <a:solidFill>
                  <a:srgbClr val="0F8B8D"/>
                </a:solidFill>
              </a:rPr>
              <a:t>BRIGHT DATA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D4F795-3C71-4BEE-A168-8C6190F48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57250"/>
            <a:ext cx="7048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F1720"/>
                </a:solidFill>
              </a:defRPr>
            </a:pPr>
            <a:r>
              <a:rPr sz="3300" b="1">
                <a:solidFill>
                  <a:srgbClr val="0F1720"/>
                </a:solidFill>
              </a:rPr>
              <a:t>The sponsor tool is the acquisition layer.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A54896-686D-440F-BEB1-E552AB16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28800"/>
            <a:ext cx="619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A6673"/>
                </a:solidFill>
              </a:defRPr>
            </a:pPr>
            <a:r>
              <a:rPr sz="1500">
                <a:solidFill>
                  <a:srgbClr val="5A6673"/>
                </a:solidFill>
              </a:rPr>
              <a:t>Bright Data is where live public evidence enters the workflow, not a badge in the footer.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F6C111-52B3-4CC3-B80F-704632FB9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574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0">
            <a:solidFill>
              <a:srgbClr val="2364A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DB3452-7F3E-4F64-944F-1E52DC5AD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19350"/>
            <a:ext cx="4781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1720"/>
                </a:solidFill>
              </a:defRPr>
            </a:pPr>
            <a:r>
              <a:rPr sz="1650" b="1">
                <a:solidFill>
                  <a:srgbClr val="0F1720"/>
                </a:solidFill>
              </a:rPr>
              <a:t>Event intake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6949B1-41DF-4BEB-B4B5-75E9D60D8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4781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A6673"/>
                </a:solidFill>
              </a:defRPr>
            </a:pPr>
            <a:r>
              <a:rPr sz="1200">
                <a:solidFill>
                  <a:srgbClr val="5A6673"/>
                </a:solidFill>
              </a:rPr>
              <a:t>/api/review-event fetches the field and marks intake traces as non-scoring provenance.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F5862A-BEA1-4F68-A41C-4D2564DB4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solidFill>
              <a:srgbClr val="0F8B8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42BD0D-73D1-4D3A-959A-A2070AB02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0400"/>
            <a:ext cx="4781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1720"/>
                </a:solidFill>
              </a:defRPr>
            </a:pPr>
            <a:r>
              <a:rPr sz="1650" b="1">
                <a:solidFill>
                  <a:srgbClr val="0F1720"/>
                </a:solidFill>
              </a:rPr>
              <a:t>Project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B04FE5-7999-4EF9-B523-8145340D1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95675"/>
            <a:ext cx="4781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A6673"/>
                </a:solidFill>
              </a:defRPr>
            </a:pPr>
            <a:r>
              <a:rPr sz="1200">
                <a:solidFill>
                  <a:srgbClr val="5A6673"/>
                </a:solidFill>
              </a:rPr>
              <a:t>/api/review-project checks repos, demos, package manifests, license, commits, and secret-risk signals.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775EA1-9FEB-412E-8F54-7FE8E442A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195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7909"/>
          </a:solidFill>
          <a:ln xmlns:a="http://schemas.openxmlformats.org/drawingml/2006/main" w="0">
            <a:solidFill>
              <a:srgbClr val="B8790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B55CEA-A2C7-46E0-8D60-9A41FAA76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81450"/>
            <a:ext cx="4781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1720"/>
                </a:solidFill>
              </a:defRPr>
            </a:pPr>
            <a:r>
              <a:rPr sz="1650" b="1">
                <a:solidFill>
                  <a:srgbClr val="0F1720"/>
                </a:solidFill>
              </a:rPr>
              <a:t>Prior-art radar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934A3E-ECCF-4597-9E1E-A0C20A5DB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76725"/>
            <a:ext cx="4781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A6673"/>
                </a:solidFill>
              </a:defRPr>
            </a:pPr>
            <a:r>
              <a:rPr sz="1200">
                <a:solidFill>
                  <a:srgbClr val="5A6673"/>
                </a:solidFill>
              </a:rPr>
              <a:t>search_engine and discover queries are prepared for overlap and copied-claim review.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B3488B-3236-488E-9FBC-504A13B79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006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1580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5C30BF-03E0-4497-9B81-F14ABB299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4781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1720"/>
                </a:solidFill>
              </a:defRPr>
            </a:pPr>
            <a:r>
              <a:rPr sz="1650" b="1">
                <a:solidFill>
                  <a:srgbClr val="0F1720"/>
                </a:solidFill>
              </a:rPr>
              <a:t>Trace discipline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F56040-AC29-4113-9007-3983F0676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57775"/>
            <a:ext cx="4781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A6673"/>
                </a:solidFill>
              </a:defRPr>
            </a:pPr>
            <a:r>
              <a:rPr sz="1200">
                <a:solidFill>
                  <a:srgbClr val="5A6673"/>
                </a:solidFill>
              </a:rPr>
              <a:t>Only provider=bright-data and traceStatus=executed closes sponsor-fit proof.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c9c4cb16bf4d97"/>
          <a:srcRect xmlns:a="http://schemas.openxmlformats.org/drawingml/2006/main" l="3819" t="0" r="38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2343150"/>
            <a:ext cx="4000500" cy="2857500"/>
          </a:xfrm>
          <a:prstGeom xmlns:a="http://schemas.openxmlformats.org/drawingml/2006/main" prst="roundRect">
            <a:avLst>
              <a:gd name="adj" fmla="val 2667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B3E316-1246-4775-A5FA-0B87C4A42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8B8D"/>
                </a:solidFill>
              </a:defRPr>
            </a:pPr>
            <a:r>
              <a:rPr sz="975" b="1">
                <a:solidFill>
                  <a:srgbClr val="0F8B8D"/>
                </a:solidFill>
              </a:rPr>
              <a:t>ProofRank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D11788-0E17-4339-BB34-5B838E2A1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A6673"/>
                </a:solidFill>
              </a:defRPr>
            </a:pPr>
            <a:r>
              <a:rPr sz="975">
                <a:solidFill>
                  <a:srgbClr val="5A6673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9855525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EAC183-B1E5-464D-884F-22827D6C9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8B8D"/>
                </a:solidFill>
              </a:defRPr>
            </a:pPr>
            <a:r>
              <a:rPr sz="900" b="1">
                <a:solidFill>
                  <a:srgbClr val="0F8B8D"/>
                </a:solidFill>
              </a:rPr>
              <a:t>WHAT CHANGED SINCE THE FIRST PROTOTYPE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C0A0E6-C150-4526-80EC-31F69D507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57250"/>
            <a:ext cx="7048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F1720"/>
                </a:solidFill>
              </a:defRPr>
            </a:pPr>
            <a:r>
              <a:rPr sz="3300" b="1">
                <a:solidFill>
                  <a:srgbClr val="0F1720"/>
                </a:solidFill>
              </a:rPr>
              <a:t>The app now argues with itself.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3F085D-2363-4893-BA00-2C0984E62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28800"/>
            <a:ext cx="619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A6673"/>
                </a:solidFill>
              </a:defRPr>
            </a:pPr>
            <a:r>
              <a:rPr sz="1500">
                <a:solidFill>
                  <a:srgbClr val="5A6673"/>
                </a:solidFill>
              </a:rPr>
              <a:t>That is the differentiator: ProofRank surfaces the objections a sponsor judge would raise.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d119dc4bab4446"/>
          <a:srcRect xmlns:a="http://schemas.openxmlformats.org/drawingml/2006/main" l="0" t="3570" r="0" b="35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2343150"/>
            <a:ext cx="5286375" cy="3238500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213FF4-CEFA-4188-BC2C-B84B98845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289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0">
            <a:solidFill>
              <a:srgbClr val="2364A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30E69F-2BA0-4698-BE62-FA251747B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908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1720"/>
                </a:solidFill>
              </a:defRPr>
            </a:pPr>
            <a:r>
              <a:rPr sz="1650" b="1">
                <a:solidFill>
                  <a:srgbClr val="0F1720"/>
                </a:solidFill>
              </a:rPr>
              <a:t>Adversarial Tribunal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27F8B1-47B4-451E-9EA7-63B1854A3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86075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A6673"/>
                </a:solidFill>
              </a:defRPr>
            </a:pPr>
            <a:r>
              <a:rPr sz="1200">
                <a:solidFill>
                  <a:srgbClr val="5A6673"/>
                </a:solidFill>
              </a:rPr>
              <a:t>Three lenses: Bright Data sponsor, skeptical hackathon judge, and business buyer.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F7F5E5-CBC8-4913-A9D7-E214D4A2E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5052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7909"/>
          </a:solidFill>
          <a:ln xmlns:a="http://schemas.openxmlformats.org/drawingml/2006/main" w="0">
            <a:solidFill>
              <a:srgbClr val="B8790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726B01-E18E-4D5A-BF03-B8B668CDF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671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1720"/>
                </a:solidFill>
              </a:defRPr>
            </a:pPr>
            <a:r>
              <a:rPr sz="1650" b="1">
                <a:solidFill>
                  <a:srgbClr val="0F1720"/>
                </a:solidFill>
              </a:rPr>
              <a:t>Originality Radar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7FAC2C-ACF2-4927-AA17-9EB0919AF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62375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A6673"/>
                </a:solidFill>
              </a:defRPr>
            </a:pPr>
            <a:r>
              <a:rPr sz="1200">
                <a:solidFill>
                  <a:srgbClr val="5A6673"/>
                </a:solidFill>
              </a:rPr>
              <a:t>Similar-project overlap with defensible-wedge bullets and live prior-art queries.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5BD5B0-5D47-4A13-B68A-6EB16B29F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3815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362F"/>
          </a:solidFill>
          <a:ln xmlns:a="http://schemas.openxmlformats.org/drawingml/2006/main" w="0">
            <a:solidFill>
              <a:srgbClr val="C7362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CBED73-AEDB-4A77-8D50-0EF7B3F7A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434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1720"/>
                </a:solidFill>
              </a:defRPr>
            </a:pPr>
            <a:r>
              <a:rPr sz="1650" b="1">
                <a:solidFill>
                  <a:srgbClr val="0F1720"/>
                </a:solidFill>
              </a:rPr>
              <a:t>Honest blockers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C1E06A-929D-4F2B-A180-81F184B64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638675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A6673"/>
                </a:solidFill>
              </a:defRPr>
            </a:pPr>
            <a:r>
              <a:rPr sz="1200">
                <a:solidFill>
                  <a:srgbClr val="5A6673"/>
                </a:solidFill>
              </a:rPr>
              <a:t>A missing native.builder URL or failed Bright Data token stays visible in the receipt.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265B0C-7DC9-4360-9124-5550FFB7A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8B8D"/>
                </a:solidFill>
              </a:defRPr>
            </a:pPr>
            <a:r>
              <a:rPr sz="975" b="1">
                <a:solidFill>
                  <a:srgbClr val="0F8B8D"/>
                </a:solidFill>
              </a:rPr>
              <a:t>ProofRank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D62734-A307-441C-89FF-B3FB746CD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A6673"/>
                </a:solidFill>
              </a:defRPr>
            </a:pPr>
            <a:r>
              <a:rPr sz="975">
                <a:solidFill>
                  <a:srgbClr val="5A6673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541446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D2ADDE-BBA4-4CCB-B428-67FB6255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8B8D"/>
                </a:solidFill>
              </a:defRPr>
            </a:pPr>
            <a:r>
              <a:rPr sz="900" b="1">
                <a:solidFill>
                  <a:srgbClr val="0F8B8D"/>
                </a:solidFill>
              </a:rPr>
              <a:t>READINESS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FC6829-E29B-40D3-9C70-EA198E5E5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57250"/>
            <a:ext cx="7048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F1720"/>
                </a:solidFill>
              </a:defRPr>
            </a:pPr>
            <a:r>
              <a:rPr sz="3300" b="1">
                <a:solidFill>
                  <a:srgbClr val="0F1720"/>
                </a:solidFill>
              </a:rPr>
              <a:t>The fallback is ready. The final proof is account-gated.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B3CAC4-22AF-403F-B650-B9C39DFA9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28800"/>
            <a:ext cx="619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A6673"/>
                </a:solidFill>
              </a:defRPr>
            </a:pPr>
            <a:r>
              <a:rPr sz="1500">
                <a:solidFill>
                  <a:srgbClr val="5A6673"/>
                </a:solidFill>
              </a:rPr>
              <a:t>This is deliberately transparent so the submission does not overclaim.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90550" y="2400300"/>
          <a:ext xmlns:a="http://schemas.openxmlformats.org/drawingml/2006/main" cx="11010900" cy="2571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634609"/>
                <a:gridCol w="1428750"/>
                <a:gridCol w="5947541"/>
              </a:tblGrid>
              <a:tr h="514350">
                <a:tc>
                  <a:txBody>
                    <a:bodyPr/>
                    <a:lstStyle/>
                    <a:p>
                      <a:r>
                        <a:t>Item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Evidence</a:t>
                      </a:r>
                    </a:p>
                  </a:txBody>
                  <a:tcPr marL="91440" marR="91440" marT="45720" marB="45720"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t>Fallback app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Ready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GitHub Pages deploy is green.</a:t>
                      </a:r>
                    </a:p>
                  </a:txBody>
                  <a:tcPr marL="91440" marR="91440" marT="45720" marB="45720"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t>Demo video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Ready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Release MP4 refreshed to current UI.</a:t>
                      </a:r>
                    </a:p>
                  </a:txBody>
                  <a:tcPr marL="91440" marR="91440" marT="45720" marB="45720"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t>Bright Data execution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Blocked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Current token returns HTTP 401.</a:t>
                      </a:r>
                    </a:p>
                  </a:txBody>
                  <a:tcPr marL="91440" marR="91440" marT="45720" marB="45720"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t>Native.builder URL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Blocked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Requires team-owner login and publish.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FE9DCF-65C5-4180-A3E3-780E0F2D2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34000"/>
            <a:ext cx="8334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8B8D"/>
                </a:solidFill>
              </a:defRPr>
            </a:pPr>
            <a:r>
              <a:rPr sz="1800" b="1">
                <a:solidFill>
                  <a:srgbClr val="0F8B8D"/>
                </a:solidFill>
              </a:rPr>
              <a:t>The product is stronger because it refuses to score planned Bright Data traces as executed proof.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B3569B-7F5F-4AF4-AF9F-636FCF05A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8B8D"/>
                </a:solidFill>
              </a:defRPr>
            </a:pPr>
            <a:r>
              <a:rPr sz="975" b="1">
                <a:solidFill>
                  <a:srgbClr val="0F8B8D"/>
                </a:solidFill>
              </a:rPr>
              <a:t>ProofRank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055951-ABEA-40F9-999E-BADC0EC62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A6673"/>
                </a:solidFill>
              </a:defRPr>
            </a:pPr>
            <a:r>
              <a:rPr sz="975">
                <a:solidFill>
                  <a:srgbClr val="5A6673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5581037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E9ECC2-A710-4936-AE22-A405A5B29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8B8D"/>
                </a:solidFill>
              </a:defRPr>
            </a:pPr>
            <a:r>
              <a:rPr sz="900" b="1">
                <a:solidFill>
                  <a:srgbClr val="0F8B8D"/>
                </a:solidFill>
              </a:rPr>
              <a:t>ASK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B29BA1-1367-4EF1-8D6D-CCAFFAB58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57250"/>
            <a:ext cx="7048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F1720"/>
                </a:solidFill>
              </a:defRPr>
            </a:pPr>
            <a:r>
              <a:rPr sz="3300" b="1">
                <a:solidFill>
                  <a:srgbClr val="0F1720"/>
                </a:solidFill>
              </a:rPr>
              <a:t>Fund proof-based AI review.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7C1CB5-4B1D-4210-A418-E2F3A491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28800"/>
            <a:ext cx="619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A6673"/>
                </a:solidFill>
              </a:defRPr>
            </a:pPr>
            <a:r>
              <a:rPr sz="1500">
                <a:solidFill>
                  <a:srgbClr val="5A6673"/>
                </a:solidFill>
              </a:rPr>
              <a:t>The hackathon wedge is judge diligence. The broader product is sponsor, accelerator, grant, and procurement review.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DF816D-28A5-406E-8F85-8DFE00799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47950"/>
            <a:ext cx="4762500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0D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27F492-A50B-41F0-99E5-71BD65B4F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1720"/>
                </a:solidFill>
              </a:defRPr>
            </a:pPr>
            <a:r>
              <a:rPr sz="2250" b="1">
                <a:solidFill>
                  <a:srgbClr val="0F1720"/>
                </a:solidFill>
              </a:rPr>
              <a:t>Next live run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D7B5BD-D228-4719-BBE6-1704765DC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81400"/>
            <a:ext cx="38290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A6673"/>
                </a:solidFill>
              </a:defRPr>
            </a:pPr>
            <a:r>
              <a:rPr sz="1650">
                <a:solidFill>
                  <a:srgbClr val="5A6673"/>
                </a:solidFill>
              </a:rPr>
              <a:t>1. Fix Bright Data token</a:t>
            </a:r>
          </a:p>
          <a:p xmlns:a="http://schemas.openxmlformats.org/drawingml/2006/main">
            <a:pPr>
              <a:defRPr sz="1650">
                <a:solidFill>
                  <a:srgbClr val="5A6673"/>
                </a:solidFill>
              </a:defRPr>
            </a:pPr>
            <a:r>
              <a:rPr sz="1650">
                <a:solidFill>
                  <a:srgbClr val="5A6673"/>
                </a:solidFill>
              </a:rPr>
              <a:t>2. Publish native.builder URL</a:t>
            </a:r>
          </a:p>
          <a:p xmlns:a="http://schemas.openxmlformats.org/drawingml/2006/main">
            <a:pPr>
              <a:defRPr sz="1650">
                <a:solidFill>
                  <a:srgbClr val="5A6673"/>
                </a:solidFill>
              </a:defRPr>
            </a:pPr>
            <a:r>
              <a:rPr sz="1650">
                <a:solidFill>
                  <a:srgbClr val="5A6673"/>
                </a:solidFill>
              </a:rPr>
              <a:t>3. Run live event and project receipts</a:t>
            </a:r>
          </a:p>
          <a:p xmlns:a="http://schemas.openxmlformats.org/drawingml/2006/main">
            <a:pPr>
              <a:defRPr sz="1650">
                <a:solidFill>
                  <a:srgbClr val="5A6673"/>
                </a:solidFill>
              </a:defRPr>
            </a:pPr>
            <a:r>
              <a:rPr sz="1650">
                <a:solidFill>
                  <a:srgbClr val="5A6673"/>
                </a:solidFill>
              </a:rPr>
              <a:t>4. Submit with refreshed video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2D94F1-7C0F-4432-B925-307773E48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647950"/>
            <a:ext cx="4095750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0F1720"/>
          </a:solidFill>
          <a:ln xmlns:a="http://schemas.openxmlformats.org/drawingml/2006/main" w="9525">
            <a:solidFill>
              <a:srgbClr val="0F172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51AFF2-9DD0-44AB-909F-EE5C5A049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1051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Prize fit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648703-54AD-48AD-BE32-C2DAB8278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562350"/>
            <a:ext cx="314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Best Agentic Use of Bright 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13FAD0-3A65-4EDA-865F-705322330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8B8D"/>
                </a:solidFill>
              </a:defRPr>
            </a:pPr>
            <a:r>
              <a:rPr sz="975" b="1">
                <a:solidFill>
                  <a:srgbClr val="0F8B8D"/>
                </a:solidFill>
              </a:rPr>
              <a:t>ProofRank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896841-CE2F-4484-A105-28928184A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A6673"/>
                </a:solidFill>
              </a:defRPr>
            </a:pPr>
            <a:r>
              <a:rPr sz="975">
                <a:solidFill>
                  <a:srgbClr val="5A6673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5835824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2026-08-07T12:41:18.9500000Z</dcterms:created>
  <dcterms:modified xsi:type="dcterms:W3CDTF">2026-08-07T12:41:18.9500000Z</dcterms:modified>
</coreProperties>
</file>