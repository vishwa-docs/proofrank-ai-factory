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0d46fb3f6554d21" /><Relationship Type="http://schemas.openxmlformats.org/officeDocument/2006/relationships/extended-properties" Target="/docProps/app.xml" Id="Ra24f4742a0da4128" /><Relationship Type="http://schemas.openxmlformats.org/officeDocument/2006/relationships/officeDocument" Target="/ppt/presentation.xml" Id="Redfc22aec8e7400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11ce941945c4692"/>
  </p:sldMasterIdLst>
  <p:notesMasterIdLst>
    <p:notesMasterId xmlns:r="http://schemas.openxmlformats.org/officeDocument/2006/relationships" r:id="R6dd860b25802437c"/>
  </p:notesMasterIdLst>
  <p:sldIdLst>
    <p:sldId xmlns:r="http://schemas.openxmlformats.org/officeDocument/2006/relationships" id="256" r:id="Rbec4ec96214741f1"/>
    <p:sldId xmlns:r="http://schemas.openxmlformats.org/officeDocument/2006/relationships" id="257" r:id="Rac765c725b4d44d7"/>
    <p:sldId xmlns:r="http://schemas.openxmlformats.org/officeDocument/2006/relationships" id="258" r:id="Ra8ffd484170b434b"/>
    <p:sldId xmlns:r="http://schemas.openxmlformats.org/officeDocument/2006/relationships" id="259" r:id="Rc7c907224f2c4b60"/>
    <p:sldId xmlns:r="http://schemas.openxmlformats.org/officeDocument/2006/relationships" id="260" r:id="R3c9204af7c2241cf"/>
    <p:sldId xmlns:r="http://schemas.openxmlformats.org/officeDocument/2006/relationships" id="261" r:id="R3efbd0e07d1f475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def9b5106944082" /><Relationship Type="http://schemas.openxmlformats.org/officeDocument/2006/relationships/slideMaster" Target="/ppt/slideMasters/slideMaster1.xml" Id="Rf11ce941945c4692" /><Relationship Type="http://schemas.openxmlformats.org/officeDocument/2006/relationships/notesMaster" Target="/ppt/notesMasters/notesMaster1.xml" Id="R6dd860b25802437c" /><Relationship Type="http://schemas.openxmlformats.org/officeDocument/2006/relationships/presProps" Target="/ppt/presProps.xml" Id="R70a7c130d3cd41bb" /><Relationship Type="http://schemas.openxmlformats.org/officeDocument/2006/relationships/tableStyles" Target="/ppt/tableStyles.xml" Id="R69398e3408df42c6" /><Relationship Type="http://schemas.openxmlformats.org/officeDocument/2006/relationships/slide" Target="/ppt/slides/slide1.xml" Id="Rbec4ec96214741f1" /><Relationship Type="http://schemas.openxmlformats.org/officeDocument/2006/relationships/slide" Target="/ppt/slides/slide2.xml" Id="Rac765c725b4d44d7" /><Relationship Type="http://schemas.openxmlformats.org/officeDocument/2006/relationships/slide" Target="/ppt/slides/slide3.xml" Id="Ra8ffd484170b434b" /><Relationship Type="http://schemas.openxmlformats.org/officeDocument/2006/relationships/slide" Target="/ppt/slides/slide4.xml" Id="Rc7c907224f2c4b60" /><Relationship Type="http://schemas.openxmlformats.org/officeDocument/2006/relationships/slide" Target="/ppt/slides/slide5.xml" Id="R3c9204af7c2241cf" /><Relationship Type="http://schemas.openxmlformats.org/officeDocument/2006/relationships/slide" Target="/ppt/slides/slide6.xml" Id="R3efbd0e07d1f475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cb2c58474744b1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100fe05e2784b73" /><Relationship Type="http://schemas.openxmlformats.org/officeDocument/2006/relationships/notesMaster" Target="/ppt/notesMasters/notesMaster1.xml" Id="R49996582a0ce492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97fe39ee2b3419d" /><Relationship Type="http://schemas.openxmlformats.org/officeDocument/2006/relationships/notesMaster" Target="/ppt/notesMasters/notesMaster1.xml" Id="R1b3cd989f3a647b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daaea1551894803" /><Relationship Type="http://schemas.openxmlformats.org/officeDocument/2006/relationships/notesMaster" Target="/ppt/notesMasters/notesMaster1.xml" Id="R4fa0f7c0f8ae498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5bbe1724bf14615" /><Relationship Type="http://schemas.openxmlformats.org/officeDocument/2006/relationships/notesMaster" Target="/ppt/notesMasters/notesMaster1.xml" Id="R40b2609dac07412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d0b3cbf8bdd4c9f" /><Relationship Type="http://schemas.openxmlformats.org/officeDocument/2006/relationships/notesMaster" Target="/ppt/notesMasters/notesMaster1.xml" Id="R950dd63ec7924a7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40ce916c7bb4dbb" /><Relationship Type="http://schemas.openxmlformats.org/officeDocument/2006/relationships/notesMaster" Target="/ppt/notesMasters/notesMaster1.xml" Id="Reaa717d2cc3d45e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ProofRank as a product, not as a one-off hackathon helper. The audience should understand that Bright Data is the evidence layer and that the same diligence workflow applies beyond this event.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 Factory hackathon requirements, Bright Data access, and partner prize: https://lablab.ai/ai-hackathons/nativebuilder-build-without-limits</a:t>
            </a:r>
          </a:p>
          <a:p xmlns:a="http://schemas.openxmlformats.org/drawingml/2006/main">
            <a:r>
              <a:t>- Local ProofRank implementation and submission assets: /Users/daver/Desktop/LabLabAI AI Factory NativeBuilder Hackathon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the pain as diligence under time pressure. The deck should make judges feel the product solves their own review burden, while sponsor teams see why Bright Data becomes necessary.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 Factory hackathon requirements, Bright Data access, and partner prize: https://lablab.ai/ai-hackathons/nativebuilder-build-without-limits</a:t>
            </a:r>
          </a:p>
          <a:p xmlns:a="http://schemas.openxmlformats.org/drawingml/2006/main">
            <a:r>
              <a:t>- Local ProofRank implementation and submission assets: /Users/daver/Desktop/LabLabAI AI Factory NativeBuilder Hackathon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Emphasize that Bright Data is not a peripheral integration. It is the system of record for public evidence collection and traceability.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 Factory hackathon requirements, Bright Data access, and partner prize: https://lablab.ai/ai-hackathons/nativebuilder-build-without-limits</a:t>
            </a:r>
          </a:p>
          <a:p xmlns:a="http://schemas.openxmlformats.org/drawingml/2006/main">
            <a:r>
              <a:t>- Local ProofRank implementation and submission assets: /Users/daver/Desktop/LabLabAI AI Factory NativeBuilder Hackathon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percentages match the implemented deterministic scoring model in the local app. Tie this slide directly to the Bright Data prize conversation.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 Factory hackathon requirements, Bright Data access, and partner prize: https://lablab.ai/ai-hackathons/nativebuilder-build-without-limits</a:t>
            </a:r>
          </a:p>
          <a:p xmlns:a="http://schemas.openxmlformats.org/drawingml/2006/main">
            <a:r>
              <a:t>- Local ProofRank implementation and submission assets: /Users/daver/Desktop/LabLabAI AI Factory NativeBuilder Hackathon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to show the product's tone: confidence and traceability, not black-box judgment or unsupported accusations.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 Factory hackathon requirements, Bright Data access, and partner prize: https://lablab.ai/ai-hackathons/nativebuilder-build-without-limits</a:t>
            </a:r>
          </a:p>
          <a:p xmlns:a="http://schemas.openxmlformats.org/drawingml/2006/main">
            <a:r>
              <a:t>- Local ProofRank implementation and submission assets: /Users/daver/Desktop/LabLabAI AI Factory NativeBuilder Hackathon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the account-gated handoff. The project package already contains the prompt, reference app, setup checklist, video, and submission copy.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 Factory hackathon requirements, Bright Data access, and partner prize: https://lablab.ai/ai-hackathons/nativebuilder-build-without-limits</a:t>
            </a:r>
          </a:p>
          <a:p xmlns:a="http://schemas.openxmlformats.org/drawingml/2006/main">
            <a:r>
              <a:t>- Local ProofRank implementation and submission assets: /Users/daver/Desktop/LabLabAI AI Factory NativeBuilder Hackathon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11954f998f4d6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6c343f588f344c4" /><Relationship Type="http://schemas.openxmlformats.org/officeDocument/2006/relationships/slideLayout" Target="/ppt/slideLayouts/slideLayout1.xml" Id="Rfa66a465db1f418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a66a465db1f418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9ae8faeba848e2" /><Relationship Type="http://schemas.openxmlformats.org/officeDocument/2006/relationships/image" Target="/ppt/media/image.jpeg" Id="Rd3860e27859f4142" /><Relationship Type="http://schemas.openxmlformats.org/officeDocument/2006/relationships/notesSlide" Target="/ppt/notesSlides/notesSlide1.xml" Id="Rd6e43497c87d4c9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8b4a9fc3c941a9" /><Relationship Type="http://schemas.openxmlformats.org/officeDocument/2006/relationships/notesSlide" Target="/ppt/notesSlides/notesSlide2.xml" Id="R3cac80fb82f2474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0ce666e4e44823" /><Relationship Type="http://schemas.openxmlformats.org/officeDocument/2006/relationships/notesSlide" Target="/ppt/notesSlides/notesSlide3.xml" Id="R6d2c6f55ea5d476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4fcb3c5aa34659" /><Relationship Type="http://schemas.openxmlformats.org/officeDocument/2006/relationships/notesSlide" Target="/ppt/notesSlides/notesSlide4.xml" Id="Ra5145ae929304bd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8fd84d86a940e8" /><Relationship Type="http://schemas.openxmlformats.org/officeDocument/2006/relationships/notesSlide" Target="/ppt/notesSlides/notesSlide5.xml" Id="Rbacd627029bd452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068c8b7fcc4a6c" /><Relationship Type="http://schemas.openxmlformats.org/officeDocument/2006/relationships/notesSlide" Target="/ppt/notesSlides/notesSlide6.xml" Id="Ra6ab8133f38c49a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3AB290-7184-453A-8E21-187B0028E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23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000000"/>
                </a:solidFill>
              </a:defRPr>
            </a:pPr>
            <a:r>
              <a:rPr sz="975" b="0">
                <a:solidFill>
                  <a:srgbClr val="000000"/>
                </a:solidFill>
              </a:rPr>
              <a:t>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BA7EED-3DFD-4E1A-8288-CC9ACBED8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19100"/>
            <a:ext cx="5334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000000"/>
                </a:solidFill>
              </a:defRPr>
            </a:pPr>
            <a:r>
              <a:rPr sz="4500" b="1">
                <a:solidFill>
                  <a:srgbClr val="000000"/>
                </a:solidFill>
              </a:rPr>
              <a:t>ProofRank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CF301A-A0DC-406E-B641-80153334C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466850"/>
            <a:ext cx="5143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F6670"/>
                </a:solidFill>
              </a:defRPr>
            </a:pPr>
            <a:r>
              <a:rPr sz="1875" b="0">
                <a:solidFill>
                  <a:srgbClr val="5F6670"/>
                </a:solidFill>
              </a:rPr>
              <a:t>Bright Data-powered public AI product diligence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0C9C36-1630-45A9-9297-43E05CB34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533650"/>
            <a:ext cx="5334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000000"/>
                </a:solidFill>
              </a:defRPr>
            </a:pPr>
            <a:r>
              <a:rPr sz="2100" b="0">
                <a:solidFill>
                  <a:srgbClr val="000000"/>
                </a:solidFill>
              </a:rPr>
              <a:t>A working audit queue for judges, sponsors, accelerators, and innovation teams that need source-backed review packets.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B86A35-4EAA-4DDD-9E5B-D344C43F6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191125"/>
            <a:ext cx="5334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4756F"/>
                </a:solidFill>
              </a:defRPr>
            </a:pPr>
            <a:r>
              <a:rPr sz="1950" b="1">
                <a:solidFill>
                  <a:srgbClr val="04756F"/>
                </a:solidFill>
              </a:rPr>
              <a:t>Hackathons are the wedge. Public AI diligence is the product.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02D6CE-048E-4B75-AB31-A607A73CF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0050"/>
            <a:ext cx="5543550" cy="5600700"/>
          </a:xfrm>
          <a:prstGeom xmlns:a="http://schemas.openxmlformats.org/drawingml/2006/main" prst="roundRect">
            <a:avLst>
              <a:gd name="adj" fmla="val 1031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860e27859f4142"/>
          <a:srcRect xmlns:a="http://schemas.openxmlformats.org/drawingml/2006/main" l="20451" t="0" r="2045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38900" y="723900"/>
            <a:ext cx="5200650" cy="4953000"/>
          </a:xfrm>
          <a:prstGeom xmlns:a="http://schemas.openxmlformats.org/drawingml/2006/main" prst="roundRect">
            <a:avLst>
              <a:gd name="adj" fmla="val 1154"/>
            </a:avLst>
          </a:prstGeom>
        </p:spPr>
      </p:pic>
    </p:spTree>
    <p:extLst>
      <p:ext uri="{BB962C8B-B14F-4D97-AF65-F5344CB8AC3E}">
        <p14:creationId xmlns:p14="http://schemas.microsoft.com/office/powerpoint/2010/main" val="25391970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BDA104-3A2E-4BD0-9226-1D8F83B51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114109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0">
                <a:solidFill>
                  <a:srgbClr val="000000"/>
                </a:solidFill>
              </a:defRPr>
            </a:pPr>
            <a:r>
              <a:rPr sz="2925" b="0">
                <a:solidFill>
                  <a:srgbClr val="000000"/>
                </a:solidFill>
              </a:rPr>
              <a:t>Reviewers need evidence, not another polished pitch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5E95E0-AC17-47F5-9825-84B1A33F5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23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000000"/>
                </a:solidFill>
              </a:defRPr>
            </a:pPr>
            <a:r>
              <a:rPr sz="975" b="0">
                <a:solidFill>
                  <a:srgbClr val="000000"/>
                </a:solidFill>
              </a:rPr>
              <a:t>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B8549C-3B8A-4EBB-AF07-68BCA38F4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028825"/>
            <a:ext cx="55340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</a:defRPr>
            </a:pPr>
            <a:r>
              <a:rPr sz="2250" b="1">
                <a:solidFill>
                  <a:srgbClr val="000000"/>
                </a:solidFill>
              </a:rPr>
              <a:t>Scattered claims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D9B1E0-2041-45A6-9C69-B71C9D6F7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581275"/>
            <a:ext cx="514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F6670"/>
                </a:solidFill>
              </a:defRPr>
            </a:pPr>
            <a:r>
              <a:rPr sz="1650" b="0">
                <a:solidFill>
                  <a:srgbClr val="5F6670"/>
                </a:solidFill>
              </a:rPr>
              <a:t>Project pages, demos, repos, slides, videos, and public mentions rarely agree cleanly.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7F5B51-C5F9-479B-B99E-3F0BEABC2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028825"/>
            <a:ext cx="55340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</a:defRPr>
            </a:pPr>
            <a:r>
              <a:rPr sz="2250" b="1">
                <a:solidFill>
                  <a:srgbClr val="000000"/>
                </a:solidFill>
              </a:rPr>
              <a:t>Weak sponsor proof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2BF2AC-753D-40E9-818F-16D3B9704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581275"/>
            <a:ext cx="514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F6670"/>
                </a:solidFill>
              </a:defRPr>
            </a:pPr>
            <a:r>
              <a:rPr sz="1650" b="0">
                <a:solidFill>
                  <a:srgbClr val="5F6670"/>
                </a:solidFill>
              </a:rPr>
              <a:t>A sponsor logo is not evidence that the sponsor tool is load-bearing.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0965B4-B155-4538-9EAA-172595344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019550"/>
            <a:ext cx="55340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</a:defRPr>
            </a:pPr>
            <a:r>
              <a:rPr sz="2250" b="1">
                <a:solidFill>
                  <a:srgbClr val="000000"/>
                </a:solidFill>
              </a:rPr>
              <a:t>Slow originality checks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0A6671-E8B3-4EED-83E5-0012C0BEF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572000"/>
            <a:ext cx="514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F6670"/>
                </a:solidFill>
              </a:defRPr>
            </a:pPr>
            <a:r>
              <a:rPr sz="1650" b="0">
                <a:solidFill>
                  <a:srgbClr val="5F6670"/>
                </a:solidFill>
              </a:rPr>
              <a:t>Prior-art review is public-web work, but it is too repetitive to do manually at scale.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A008DF-274C-4140-A3C4-02D0C469B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019550"/>
            <a:ext cx="55340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</a:defRPr>
            </a:pPr>
            <a:r>
              <a:rPr sz="2250" b="1">
                <a:solidFill>
                  <a:srgbClr val="000000"/>
                </a:solidFill>
              </a:rPr>
              <a:t>High-stakes eligibility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5FFB49-153D-4647-A083-6F4F42306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572000"/>
            <a:ext cx="514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F6670"/>
                </a:solidFill>
              </a:defRPr>
            </a:pPr>
            <a:r>
              <a:rPr sz="1650" b="0">
                <a:solidFill>
                  <a:srgbClr val="5F6670"/>
                </a:solidFill>
              </a:rPr>
              <a:t>Broken demos and missing native.builder proof can make otherwise strong teams ineligible.</a:t>
            </a:r>
          </a:p>
        </p:txBody>
      </p:sp>
    </p:spTree>
    <p:extLst>
      <p:ext uri="{BB962C8B-B14F-4D97-AF65-F5344CB8AC3E}">
        <p14:creationId xmlns:p14="http://schemas.microsoft.com/office/powerpoint/2010/main" val="138392805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E692A7-E768-497E-AF49-FB99E9C04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114109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0">
                <a:solidFill>
                  <a:srgbClr val="000000"/>
                </a:solidFill>
              </a:defRPr>
            </a:pPr>
            <a:r>
              <a:rPr sz="2925" b="0">
                <a:solidFill>
                  <a:srgbClr val="000000"/>
                </a:solidFill>
              </a:rPr>
              <a:t>Bright Data is the evidence acquisition layer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176D32-F6D9-4211-B33F-CADB9F9A6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23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000000"/>
                </a:solidFill>
              </a:defRPr>
            </a:pPr>
            <a:r>
              <a:rPr sz="975" b="0">
                <a:solidFill>
                  <a:srgbClr val="000000"/>
                </a:solidFill>
              </a:rPr>
              <a:t>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A8C429-9D13-487E-B407-0964225A7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028825"/>
            <a:ext cx="55340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</a:defRPr>
            </a:pPr>
            <a:r>
              <a:rPr sz="2250" b="1">
                <a:solidFill>
                  <a:srgbClr val="000000"/>
                </a:solidFill>
              </a:rPr>
              <a:t>Discover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F75211-E797-4F89-8CBA-CD2FD5CD1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581275"/>
            <a:ext cx="514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F6670"/>
                </a:solidFill>
              </a:defRPr>
            </a:pPr>
            <a:r>
              <a:rPr sz="1650" b="0">
                <a:solidFill>
                  <a:srgbClr val="5F6670"/>
                </a:solidFill>
              </a:rPr>
              <a:t>Remote MCP search finds project pages, repos, demos, decks, and prior-art signals.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34C869-5D80-45B6-B8BC-D922A8921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028825"/>
            <a:ext cx="55340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</a:defRPr>
            </a:pPr>
            <a:r>
              <a:rPr sz="2250" b="1">
                <a:solidFill>
                  <a:srgbClr val="000000"/>
                </a:solidFill>
              </a:rPr>
              <a:t>Scrape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52E040-D9DE-4F13-B4E1-27F714503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581275"/>
            <a:ext cx="514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F6670"/>
                </a:solidFill>
              </a:defRPr>
            </a:pPr>
            <a:r>
              <a:rPr sz="1650" b="0">
                <a:solidFill>
                  <a:srgbClr val="5F6670"/>
                </a:solidFill>
              </a:rPr>
              <a:t>Markdown scraping, Web Scraper API, and Web Unlocker normalize public evidence.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802FC3-CA61-4C31-A1F2-A69B75E1F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019550"/>
            <a:ext cx="55340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</a:defRPr>
            </a:pPr>
            <a:r>
              <a:rPr sz="2250" b="1">
                <a:solidFill>
                  <a:srgbClr val="000000"/>
                </a:solidFill>
              </a:rPr>
              <a:t>Score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B5D56E-15FC-48D1-8E2F-F88F3CFC6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572000"/>
            <a:ext cx="514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F6670"/>
                </a:solidFill>
              </a:defRPr>
            </a:pPr>
            <a:r>
              <a:rPr sz="1650" b="0">
                <a:solidFill>
                  <a:srgbClr val="5F6670"/>
                </a:solidFill>
              </a:rPr>
              <a:t>Deterministic scores separate eligibility from Bright Data dependency and originality risk.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29F3D8-557C-402E-A57C-D4EED1B84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019550"/>
            <a:ext cx="55340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0000"/>
                </a:solidFill>
              </a:defRPr>
            </a:pPr>
            <a:r>
              <a:rPr sz="2250" b="1">
                <a:solidFill>
                  <a:srgbClr val="000000"/>
                </a:solidFill>
              </a:rPr>
              <a:t>Export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4752B2-7F15-4280-BF41-FEF765ECB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572000"/>
            <a:ext cx="514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F6670"/>
                </a:solidFill>
              </a:defRPr>
            </a:pPr>
            <a:r>
              <a:rPr sz="1650" b="0">
                <a:solidFill>
                  <a:srgbClr val="5F6670"/>
                </a:solidFill>
              </a:rPr>
              <a:t>Receipts, trace rows, CSV queues, and submission packets turn review into action.</a:t>
            </a:r>
          </a:p>
        </p:txBody>
      </p:sp>
    </p:spTree>
    <p:extLst>
      <p:ext uri="{BB962C8B-B14F-4D97-AF65-F5344CB8AC3E}">
        <p14:creationId xmlns:p14="http://schemas.microsoft.com/office/powerpoint/2010/main" val="132378935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A02E37-2F23-42E9-A95A-DE2D22CA5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114109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0">
                <a:solidFill>
                  <a:srgbClr val="000000"/>
                </a:solidFill>
              </a:defRPr>
            </a:pPr>
            <a:r>
              <a:rPr sz="2925" b="0">
                <a:solidFill>
                  <a:srgbClr val="000000"/>
                </a:solidFill>
              </a:rPr>
              <a:t>The score is designed for sponsor review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5C1C44-50A9-4C7C-B0B3-4FF58CFB8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23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000000"/>
                </a:solidFill>
              </a:defRPr>
            </a:pPr>
            <a:r>
              <a:rPr sz="975" b="0">
                <a:solidFill>
                  <a:srgbClr val="000000"/>
                </a:solidFill>
              </a:rPr>
              <a:t>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DC69B4-021D-48BC-B200-E367CB31C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143000"/>
            <a:ext cx="11401425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670"/>
                </a:solidFill>
              </a:defRPr>
            </a:pPr>
            <a:r>
              <a:rPr sz="1725" b="0">
                <a:solidFill>
                  <a:srgbClr val="5F6670"/>
                </a:solidFill>
              </a:rPr>
              <a:t>ProofRank separates the sponsor-specific signal from generic project quality, so Bright Data usage can be judged on dependency, traceability, and evidence visibility.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DE2F0C-C395-4BC1-A4EB-6979B475B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19425"/>
            <a:ext cx="3571875" cy="2971800"/>
          </a:xfrm>
          <a:prstGeom xmlns:a="http://schemas.openxmlformats.org/drawingml/2006/main" prst="roundRect">
            <a:avLst>
              <a:gd name="adj" fmla="val 1923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F6FBD4-FF2E-4E68-9EB8-7BBEA622E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429000"/>
            <a:ext cx="2952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00000"/>
                </a:solidFill>
              </a:defRPr>
            </a:pPr>
            <a:r>
              <a:rPr sz="4350" b="1">
                <a:solidFill>
                  <a:srgbClr val="000000"/>
                </a:solidFill>
              </a:rPr>
              <a:t>25%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0DCFA0-6857-4CA3-ACD2-FAAC51B7F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10125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Eligibility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A43E67-4C47-43A4-A1EB-6A16A7E6F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267325"/>
            <a:ext cx="295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670"/>
                </a:solidFill>
              </a:defRPr>
            </a:pPr>
            <a:r>
              <a:rPr sz="1350" b="0">
                <a:solidFill>
                  <a:srgbClr val="5F6670"/>
                </a:solidFill>
              </a:rPr>
              <a:t>Accessible app, workflow, native.builder proof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F070CD-71C2-46E5-BFF0-1048EEAF4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019425"/>
            <a:ext cx="3571875" cy="2971800"/>
          </a:xfrm>
          <a:prstGeom xmlns:a="http://schemas.openxmlformats.org/drawingml/2006/main" prst="roundRect">
            <a:avLst>
              <a:gd name="adj" fmla="val 1923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F7803B-550E-4BAE-B21C-D6A7A68BF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429000"/>
            <a:ext cx="2952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4756F"/>
                </a:solidFill>
              </a:defRPr>
            </a:pPr>
            <a:r>
              <a:rPr sz="4350" b="1">
                <a:solidFill>
                  <a:srgbClr val="04756F"/>
                </a:solidFill>
              </a:rPr>
              <a:t>25%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7FF141-EDD8-4DCE-A92D-373F677BE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810125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BD dependency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31D575-CE4F-4584-A36F-F8CE162EE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5267325"/>
            <a:ext cx="295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670"/>
                </a:solidFill>
              </a:defRPr>
            </a:pPr>
            <a:r>
              <a:rPr sz="1350" b="0">
                <a:solidFill>
                  <a:srgbClr val="5F6670"/>
                </a:solidFill>
              </a:rPr>
              <a:t>Load-bearing, agentic, traceable Bright Data use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953446-A5F2-4DFB-A801-E76929CF5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3019425"/>
            <a:ext cx="3571875" cy="2971800"/>
          </a:xfrm>
          <a:prstGeom xmlns:a="http://schemas.openxmlformats.org/drawingml/2006/main" prst="roundRect">
            <a:avLst>
              <a:gd name="adj" fmla="val 1923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3AC998-0BCF-4948-9E0D-36022E7B7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3429000"/>
            <a:ext cx="2952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00000"/>
                </a:solidFill>
              </a:defRPr>
            </a:pPr>
            <a:r>
              <a:rPr sz="4350" b="1">
                <a:solidFill>
                  <a:srgbClr val="000000"/>
                </a:solidFill>
              </a:rPr>
              <a:t>50%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DB780E-29BB-43D3-9DE5-566830FB7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4810125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Product quality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09EEC2-6E6A-40E8-AD9D-552844D47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5267325"/>
            <a:ext cx="295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670"/>
                </a:solidFill>
              </a:defRPr>
            </a:pPr>
            <a:r>
              <a:rPr sz="1350" b="0">
                <a:solidFill>
                  <a:srgbClr val="5F6670"/>
                </a:solidFill>
              </a:rPr>
              <a:t>Business value, originality, presentation</a:t>
            </a:r>
          </a:p>
        </p:txBody>
      </p:sp>
    </p:spTree>
    <p:extLst>
      <p:ext uri="{BB962C8B-B14F-4D97-AF65-F5344CB8AC3E}">
        <p14:creationId xmlns:p14="http://schemas.microsoft.com/office/powerpoint/2010/main" val="9400171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98D263-A3E1-4C36-B645-D8E50B585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114109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925" b="0">
                <a:solidFill>
                  <a:srgbClr val="000000"/>
                </a:solidFill>
              </a:defRPr>
            </a:pPr>
            <a:r>
              <a:rPr sz="2925" b="0">
                <a:solidFill>
                  <a:srgbClr val="000000"/>
                </a:solidFill>
              </a:rPr>
              <a:t>Every reviewed project leaves a defensible receipt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408C09-3C39-4332-86B6-C69A38919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76975"/>
            <a:ext cx="5238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000000"/>
                </a:solidFill>
              </a:defRPr>
            </a:pPr>
            <a:r>
              <a:rPr sz="975" b="0">
                <a:solidFill>
                  <a:srgbClr val="000000"/>
                </a:solidFill>
              </a:rPr>
              <a:t>5</a:t>
            </a:r>
          </a:p>
        </p:txBody>
      </p:sp>
      <p:graphicFrame>
        <p:nvGraphicFramePr>
          <p:cNvPr id="7" name=""/>
          <p:cNvGraphicFramePr/>
          <p:nvPr/>
        </p:nvGraphicFramePr>
        <p:xfrm>
          <a:off xmlns:a="http://schemas.openxmlformats.org/drawingml/2006/main" x="390525" y="1809750"/>
          <a:ext xmlns:a="http://schemas.openxmlformats.org/drawingml/2006/main" cx="11401425" cy="37338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048000"/>
                <a:gridCol w="8353425"/>
              </a:tblGrid>
              <a:tr h="6223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Claim</a:t>
                      </a:r>
                    </a:p>
                  </a:txBody>
                  <a:tcPr marL="95250" marR="95250" marT="57150" marB="57150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</a:rPr>
                        <a:t>Evidence treatment</a:t>
                      </a:r>
                    </a:p>
                  </a:txBody>
                  <a:tcPr marL="95250" marR="95250" marT="57150" marB="57150">
                    <a:solidFill>
                      <a:srgbClr val="000000"/>
                    </a:solidFill>
                  </a:tcPr>
                </a:tc>
              </a:tr>
              <a:tr h="62230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Demo reachable</a:t>
                      </a:r>
                    </a:p>
                  </a:txBody>
                  <a:tcPr marL="95250" marR="95250" marT="57150" marB="5715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Verified, weak evidence, or missing proof</a:t>
                      </a:r>
                    </a:p>
                  </a:txBody>
                  <a:tcPr marL="95250" marR="95250" marT="57150" marB="57150"/>
                </a:tc>
              </a:tr>
              <a:tr h="62230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native.builder explained</a:t>
                      </a:r>
                    </a:p>
                  </a:txBody>
                  <a:tcPr marL="95250" marR="95250" marT="57150" marB="5715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Eligibility claim with source-backed note</a:t>
                      </a:r>
                    </a:p>
                  </a:txBody>
                  <a:tcPr marL="95250" marR="95250" marT="57150" marB="57150"/>
                </a:tc>
              </a:tr>
              <a:tr h="62230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Bright Data load-bearing</a:t>
                      </a:r>
                    </a:p>
                  </a:txBody>
                  <a:tcPr marL="95250" marR="95250" marT="57150" marB="5715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Dedicated dependency score and trace rows</a:t>
                      </a:r>
                    </a:p>
                  </a:txBody>
                  <a:tcPr marL="95250" marR="95250" marT="57150" marB="57150"/>
                </a:tc>
              </a:tr>
              <a:tr h="62230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Originality supported</a:t>
                      </a:r>
                    </a:p>
                  </a:txBody>
                  <a:tcPr marL="95250" marR="95250" marT="57150" marB="5715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Prior-art risk, not absolute accusation</a:t>
                      </a:r>
                    </a:p>
                  </a:txBody>
                  <a:tcPr marL="95250" marR="95250" marT="57150" marB="57150"/>
                </a:tc>
              </a:tr>
              <a:tr h="62230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Packet defensible</a:t>
                      </a:r>
                    </a:p>
                  </a:txBody>
                  <a:tcPr marL="95250" marR="95250" marT="57150" marB="5715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000000"/>
                          </a:solidFill>
                        </a:rPr>
                        <a:t>Exportable JSON, CSV, and Markdown output</a:t>
                      </a:r>
                    </a:p>
                  </a:txBody>
                  <a:tcPr marL="95250" marR="95250" marT="57150" marB="57150"/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CCE117-1B28-4F60-AE0C-FCB15336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857875"/>
            <a:ext cx="895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670"/>
                </a:solidFill>
              </a:defRPr>
            </a:pPr>
            <a:r>
              <a:rPr sz="1500" b="0">
                <a:solidFill>
                  <a:srgbClr val="5F6670"/>
                </a:solidFill>
              </a:rPr>
              <a:t>The Claim Ledger avoids overclaiming. It says what is verified, what is weak, what is missing, and what a reviewer should do next.</a:t>
            </a:r>
          </a:p>
        </p:txBody>
      </p:sp>
    </p:spTree>
    <p:extLst>
      <p:ext uri="{BB962C8B-B14F-4D97-AF65-F5344CB8AC3E}">
        <p14:creationId xmlns:p14="http://schemas.microsoft.com/office/powerpoint/2010/main" val="179600006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A83FB9-1566-40AB-9870-CFF65030D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90525"/>
            <a:ext cx="2000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0000"/>
                </a:solidFill>
              </a:defRPr>
            </a:pPr>
            <a:r>
              <a:rPr sz="2400" b="0">
                <a:solidFill>
                  <a:srgbClr val="000000"/>
                </a:solidFill>
              </a:rPr>
              <a:t>Next step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4963E0-8A5A-430E-AA9B-33650ECF1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43075"/>
            <a:ext cx="9448800" cy="2495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defRPr sz="5400" b="1">
                <a:solidFill>
                  <a:srgbClr val="000000"/>
                </a:solidFill>
              </a:defRPr>
            </a:pPr>
            <a:r>
              <a:rPr sz="5400" b="1">
                <a:solidFill>
                  <a:srgbClr val="000000"/>
                </a:solidFill>
              </a:rPr>
              <a:t>Publish the native.builder app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03CA68-3C3F-4C5A-A34C-F05573113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876800"/>
            <a:ext cx="73342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5F6670"/>
                </a:solidFill>
              </a:defRPr>
            </a:pPr>
            <a:r>
              <a:rPr sz="2025" b="0">
                <a:solidFill>
                  <a:srgbClr val="5F6670"/>
                </a:solidFill>
              </a:rPr>
              <a:t>1. Authorize Native.builder login</a:t>
            </a:r>
          </a:p>
          <a:p xmlns:a="http://schemas.openxmlformats.org/drawingml/2006/main">
            <a:pPr algn="l">
              <a:defRPr sz="2025" b="0">
                <a:solidFill>
                  <a:srgbClr val="5F6670"/>
                </a:solidFill>
              </a:defRPr>
            </a:pPr>
            <a:r>
              <a:rPr sz="2025" b="0">
                <a:solidFill>
                  <a:srgbClr val="5F6670"/>
                </a:solidFill>
              </a:rPr>
              <a:t>2. Paste the prepared build prompt</a:t>
            </a:r>
          </a:p>
          <a:p xmlns:a="http://schemas.openxmlformats.org/drawingml/2006/main">
            <a:pPr algn="l">
              <a:defRPr sz="2025" b="0">
                <a:solidFill>
                  <a:srgbClr val="5F6670"/>
                </a:solidFill>
              </a:defRPr>
            </a:pPr>
            <a:r>
              <a:rPr sz="2025" b="0">
                <a:solidFill>
                  <a:srgbClr val="5F6670"/>
                </a:solidFill>
              </a:rPr>
              <a:t>3. Add Bright Data token server-side</a:t>
            </a:r>
          </a:p>
          <a:p xmlns:a="http://schemas.openxmlformats.org/drawingml/2006/main">
            <a:pPr algn="l">
              <a:defRPr sz="2025" b="0">
                <a:solidFill>
                  <a:srgbClr val="5F6670"/>
                </a:solidFill>
              </a:defRPr>
            </a:pPr>
            <a:r>
              <a:rPr sz="2025" b="0">
                <a:solidFill>
                  <a:srgbClr val="5F6670"/>
                </a:solidFill>
              </a:rPr>
              <a:t>4. Submit app URL and generated demo video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857A71-EB9C-431B-AD53-6DB562B93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5810250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800" b="1">
                <a:solidFill>
                  <a:srgbClr val="04756F"/>
                </a:solidFill>
              </a:defRPr>
            </a:pPr>
            <a:r>
              <a:rPr sz="1800" b="1">
                <a:solidFill>
                  <a:srgbClr val="04756F"/>
                </a:solidFill>
              </a:rPr>
              <a:t>ProofRank</a:t>
            </a:r>
          </a:p>
        </p:txBody>
      </p:sp>
    </p:spTree>
    <p:extLst>
      <p:ext uri="{BB962C8B-B14F-4D97-AF65-F5344CB8AC3E}">
        <p14:creationId xmlns:p14="http://schemas.microsoft.com/office/powerpoint/2010/main" val="7791184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2026-08-07T10:33:27.3600000Z</dcterms:created>
  <dcterms:modified xsi:type="dcterms:W3CDTF">2026-08-07T10:33:27.3600000Z</dcterms:modified>
</coreProperties>
</file>